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Nunito"/>
      <ns0:bold ns1:id="rIdFont17"/>
      <ns0:regular ns1:id="rIdFont18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73432648-c8f0-48d6-a9bb-3a91a94f7fa6.fntdata" /><ns0:Relationship Id="rIdFont18" Type="http://schemas.openxmlformats.org/officeDocument/2006/relationships/font" Target="fonts/be6ea65b-8d04-49d8-a5c4-ed6f90feb681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500" y="1082129"/>
            <a:ext cx="9451181" cy="514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5C6C84"/>
                </a:solidFill>
                <a:latin typeface="Nunito"/>
              </a:rPr>
              <a:t>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1748879"/>
            <a:ext cx="7660957" cy="17600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b="1" sz="4200" i="0" u="none">
                <a:solidFill>
                  <a:srgbClr val="334155"/>
                </a:solidFill>
                <a:latin typeface="Nunito"/>
              </a:rPr>
              <a:t>Azure Storage Account Firewall &amp;</a:t>
            </a:r>
            <a:r>
              <a:t>
</a:t>
            </a:r>
            <a:r>
              <a:rPr b="1" sz="4200" i="0" u="none">
                <a:solidFill>
                  <a:srgbClr val="334155"/>
                </a:solidFill>
                <a:latin typeface="Nunito"/>
              </a:rPr>
              <a:t> Private Endpoint Lockdown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4404270"/>
            <a:ext cx="900112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4A5568"/>
                </a:solidFill>
                <a:latin typeface="Nunito"/>
              </a:rPr>
              <a:t>Suswetha - 2400030314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4766220"/>
            <a:ext cx="900112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4A5568"/>
                </a:solidFill>
                <a:latin typeface="Nunito"/>
              </a:rPr>
              <a:t>Srinivas Kalyan - 2400031506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5128170"/>
            <a:ext cx="900112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4A5568"/>
                </a:solidFill>
                <a:latin typeface="Nunito"/>
              </a:rPr>
              <a:t>Sai Sri Charan - 2400031943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5490120"/>
            <a:ext cx="900112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4A5568"/>
                </a:solidFill>
                <a:latin typeface="Nunito"/>
              </a:rPr>
              <a:t>Manikanta - 2400030217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500" y="762000"/>
            <a:ext cx="2825353" cy="733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4200" i="0" u="none">
                <a:solidFill>
                  <a:srgbClr val="334155"/>
                </a:solidFill>
                <a:latin typeface="Nunito"/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762000"/>
            <a:ext cx="1009650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4800" i="0" u="none">
                <a:solidFill>
                  <a:srgbClr val="0F172A"/>
                </a:solidFill>
                <a:latin typeface="Nunit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2057400"/>
            <a:ext cx="67818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4A5568"/>
                </a:solidFill>
                <a:latin typeface="Nunito"/>
              </a:rPr>
              <a:t>This project focuses on securing Azure Storage Accounts using Zero Trust network principles.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75" y="3027045"/>
            <a:ext cx="1238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A5568"/>
                </a:solidFill>
                <a:latin typeface="Nunito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1100" y="3028950"/>
            <a:ext cx="8072437" cy="319980"/>
          </a:xfrm>
          <a:prstGeom prst="rect">
            <a:avLst/>
          </a:prstGeom>
          <a:noFill/>
        </p:spPr>
        <p:txBody>
          <a:bodyPr wrap="none" lIns="1238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A5568"/>
                </a:solidFill>
                <a:latin typeface="Nunito"/>
              </a:rPr>
              <a:t>Uses Azure Blob Storage to securely house workload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7275" y="3499425"/>
            <a:ext cx="1238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A5568"/>
                </a:solidFill>
                <a:latin typeface="Nunito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1100" y="3501330"/>
            <a:ext cx="6553200" cy="639960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A5568"/>
                </a:solidFill>
                <a:latin typeface="Nunito"/>
              </a:rPr>
              <a:t>Virtual Networks isolate traffic from the public internet entirely.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4291786"/>
            <a:ext cx="1238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A5568"/>
                </a:solidFill>
                <a:latin typeface="Nunito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1100" y="4293691"/>
            <a:ext cx="6553200" cy="639960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A5568"/>
                </a:solidFill>
                <a:latin typeface="Nunito"/>
              </a:rPr>
              <a:t>Private Endpoints map internal IPs for secure, localized routing.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7275" y="5084147"/>
            <a:ext cx="1238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A5568"/>
                </a:solidFill>
                <a:latin typeface="Nunito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1100" y="5086052"/>
            <a:ext cx="8072437" cy="319980"/>
          </a:xfrm>
          <a:prstGeom prst="rect">
            <a:avLst/>
          </a:prstGeom>
          <a:noFill/>
        </p:spPr>
        <p:txBody>
          <a:bodyPr wrap="none" lIns="1238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A5568"/>
                </a:solidFill>
                <a:latin typeface="Nunito"/>
              </a:rPr>
              <a:t>Storage Firewalls block all external access (403 Forbidden).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7275" y="5556527"/>
            <a:ext cx="1238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A5568"/>
                </a:solidFill>
                <a:latin typeface="Nunito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1100" y="5558432"/>
            <a:ext cx="6553200" cy="639960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A5568"/>
                </a:solidFill>
                <a:latin typeface="Nunito"/>
              </a:rPr>
              <a:t>Trusted Services exception allows diagnostic features to function.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7275" y="6348888"/>
            <a:ext cx="1238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A5568"/>
                </a:solidFill>
                <a:latin typeface="Nunito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1100" y="6350793"/>
            <a:ext cx="8072437" cy="319980"/>
          </a:xfrm>
          <a:prstGeom prst="rect">
            <a:avLst/>
          </a:prstGeom>
          <a:noFill/>
        </p:spPr>
        <p:txBody>
          <a:bodyPr wrap="none" lIns="1238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A5568"/>
                </a:solidFill>
                <a:latin typeface="Nunito"/>
              </a:rPr>
              <a:t>Ensures safe and reliable compliance for cloud data storage.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500" y="762000"/>
            <a:ext cx="3787973" cy="733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4200" i="0" u="none">
                <a:solidFill>
                  <a:srgbClr val="334155"/>
                </a:solidFill>
                <a:latin typeface="Nunito"/>
              </a:rPr>
              <a:t>Key Points 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762000"/>
            <a:ext cx="1009650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4800" i="0" u="none">
                <a:solidFill>
                  <a:srgbClr val="0F172A"/>
                </a:solidFill>
                <a:latin typeface="Nunito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7275" y="2055495"/>
            <a:ext cx="1238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A5568"/>
                </a:solidFill>
                <a:latin typeface="Nunito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1100" y="2057400"/>
            <a:ext cx="8072437" cy="319980"/>
          </a:xfrm>
          <a:prstGeom prst="rect">
            <a:avLst/>
          </a:prstGeom>
          <a:noFill/>
        </p:spPr>
        <p:txBody>
          <a:bodyPr wrap="none" lIns="1238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A5568"/>
                </a:solidFill>
                <a:latin typeface="Nunito"/>
              </a:rPr>
              <a:t>Uses Azure Blob Storage as the primary data target.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7275" y="2527875"/>
            <a:ext cx="1238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A5568"/>
                </a:solidFill>
                <a:latin typeface="Nunito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100" y="2529780"/>
            <a:ext cx="8072437" cy="319980"/>
          </a:xfrm>
          <a:prstGeom prst="rect">
            <a:avLst/>
          </a:prstGeom>
          <a:noFill/>
        </p:spPr>
        <p:txBody>
          <a:bodyPr wrap="none" lIns="1238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A5568"/>
                </a:solidFill>
                <a:latin typeface="Nunito"/>
              </a:rPr>
              <a:t>Firewall policies protect against unauthorized public exposure.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7275" y="3000255"/>
            <a:ext cx="1238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A5568"/>
                </a:solidFill>
                <a:latin typeface="Nunit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1100" y="3002160"/>
            <a:ext cx="8072437" cy="319980"/>
          </a:xfrm>
          <a:prstGeom prst="rect">
            <a:avLst/>
          </a:prstGeom>
          <a:noFill/>
        </p:spPr>
        <p:txBody>
          <a:bodyPr wrap="none" lIns="1238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A5568"/>
                </a:solidFill>
                <a:latin typeface="Nunito"/>
              </a:rPr>
              <a:t>Private Link bypasses the public internet completely.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7275" y="3472636"/>
            <a:ext cx="1238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A5568"/>
                </a:solidFill>
                <a:latin typeface="Nunit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1100" y="3474541"/>
            <a:ext cx="8072437" cy="319980"/>
          </a:xfrm>
          <a:prstGeom prst="rect">
            <a:avLst/>
          </a:prstGeom>
          <a:noFill/>
        </p:spPr>
        <p:txBody>
          <a:bodyPr wrap="none" lIns="1238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A5568"/>
                </a:solidFill>
                <a:latin typeface="Nunito"/>
              </a:rPr>
              <a:t>Virtual Networks (VNet) establish strict secure boundaries.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275" y="3945016"/>
            <a:ext cx="1238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A5568"/>
                </a:solidFill>
                <a:latin typeface="Nunito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1100" y="3946921"/>
            <a:ext cx="8072437" cy="319980"/>
          </a:xfrm>
          <a:prstGeom prst="rect">
            <a:avLst/>
          </a:prstGeom>
          <a:noFill/>
        </p:spPr>
        <p:txBody>
          <a:bodyPr wrap="none" lIns="1238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A5568"/>
                </a:solidFill>
                <a:latin typeface="Nunito"/>
              </a:rPr>
              <a:t>Exception rules prevent platform bottleneck failures.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7275" y="4417397"/>
            <a:ext cx="1238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A5568"/>
                </a:solidFill>
                <a:latin typeface="Nunito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1100" y="4419302"/>
            <a:ext cx="8072437" cy="319980"/>
          </a:xfrm>
          <a:prstGeom prst="rect">
            <a:avLst/>
          </a:prstGeom>
          <a:noFill/>
        </p:spPr>
        <p:txBody>
          <a:bodyPr wrap="none" lIns="1238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A5568"/>
                </a:solidFill>
                <a:latin typeface="Nunito"/>
              </a:rPr>
              <a:t>Demonstrates practical cloud access controls and auditing.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7275" y="4889777"/>
            <a:ext cx="1238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A5568"/>
                </a:solidFill>
                <a:latin typeface="Nunito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1100" y="4891682"/>
            <a:ext cx="8072437" cy="319980"/>
          </a:xfrm>
          <a:prstGeom prst="rect">
            <a:avLst/>
          </a:prstGeom>
          <a:noFill/>
        </p:spPr>
        <p:txBody>
          <a:bodyPr wrap="none" lIns="1238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A5568"/>
                </a:solidFill>
                <a:latin typeface="Nunito"/>
              </a:rPr>
              <a:t>Improves overall network safety and disaster prevention.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52500" y="2819400"/>
            <a:ext cx="2063799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8CA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521124" y="2819400"/>
            <a:ext cx="2063799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8CA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89749" y="2819400"/>
            <a:ext cx="2063799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8CA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52500" y="4076700"/>
            <a:ext cx="2063799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8CA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21124" y="4076700"/>
            <a:ext cx="2063799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8CA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89749" y="4076700"/>
            <a:ext cx="2063799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8CA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8699" y="3181350"/>
            <a:ext cx="20002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7324" y="3181350"/>
            <a:ext cx="200025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8699" y="4438650"/>
            <a:ext cx="200025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7324" y="4438650"/>
            <a:ext cx="200025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2500" y="762000"/>
            <a:ext cx="3837979" cy="733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4200" i="0" u="none">
                <a:solidFill>
                  <a:srgbClr val="334155"/>
                </a:solidFill>
                <a:latin typeface="Nunito"/>
              </a:rPr>
              <a:t>FlowChart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762000"/>
            <a:ext cx="1009650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4800" i="0" u="none">
                <a:solidFill>
                  <a:srgbClr val="0F172A"/>
                </a:solidFill>
                <a:latin typeface="Nunito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172640" y="2209800"/>
            <a:ext cx="9451181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5C6C84"/>
                </a:solidFill>
                <a:latin typeface="Nunito"/>
              </a:rPr>
              <a:t>AZURE STORAGE LOCKDOWN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4087" y="3067050"/>
            <a:ext cx="19606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34155"/>
                </a:solidFill>
                <a:latin typeface="Nunito"/>
              </a:rPr>
              <a:t>Deploy VNet &amp; Subnets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2712" y="3067050"/>
            <a:ext cx="19606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34155"/>
                </a:solidFill>
                <a:latin typeface="Nunito"/>
              </a:rPr>
              <a:t>Provision Storage Account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1336" y="3067050"/>
            <a:ext cx="19606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34155"/>
                </a:solidFill>
                <a:latin typeface="Nunito"/>
              </a:rPr>
              <a:t>Configure Private Endpoint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4087" y="4324350"/>
            <a:ext cx="19606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34155"/>
                </a:solidFill>
                <a:latin typeface="Nunito"/>
              </a:rPr>
              <a:t>Validate Secure Access (403)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2712" y="4324350"/>
            <a:ext cx="19606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34155"/>
                </a:solidFill>
                <a:latin typeface="Nunito"/>
              </a:rPr>
              <a:t>Enable Trusted 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1336" y="4324350"/>
            <a:ext cx="19606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34155"/>
                </a:solidFill>
                <a:latin typeface="Nunito"/>
              </a:rPr>
              <a:t>Disable Public Access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52500" y="2240160"/>
            <a:ext cx="6686550" cy="4791075"/>
          </a:xfrm>
          <a:prstGeom prst="roundRect">
            <a:avLst>
              <a:gd name="adj" fmla="val 2385"/>
            </a:avLst>
          </a:prstGeom>
          <a:solidFill>
            <a:srgbClr val="FEF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86250" y="3021210"/>
            <a:ext cx="19050" cy="152400"/>
          </a:xfrm>
          <a:prstGeom prst="rect">
            <a:avLst/>
          </a:prstGeom>
          <a:solidFill>
            <a:srgbClr val="8CA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1100" y="3249810"/>
            <a:ext cx="6229350" cy="1123950"/>
          </a:xfrm>
          <a:prstGeom prst="roundRect">
            <a:avLst>
              <a:gd name="adj" fmla="val 6779"/>
            </a:avLst>
          </a:prstGeom>
          <a:noFill/>
          <a:ln w="19050">
            <a:solidFill>
              <a:srgbClr val="8CA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86250" y="4449960"/>
            <a:ext cx="19050" cy="152400"/>
          </a:xfrm>
          <a:prstGeom prst="rect">
            <a:avLst/>
          </a:prstGeom>
          <a:solidFill>
            <a:srgbClr val="8CA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81100" y="4678560"/>
            <a:ext cx="6229350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5C6C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86250" y="5754885"/>
            <a:ext cx="19050" cy="152400"/>
          </a:xfrm>
          <a:prstGeom prst="rect">
            <a:avLst/>
          </a:prstGeom>
          <a:solidFill>
            <a:srgbClr val="8CA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81100" y="5983485"/>
            <a:ext cx="6229350" cy="819150"/>
          </a:xfrm>
          <a:prstGeom prst="roundRect">
            <a:avLst>
              <a:gd name="adj" fmla="val 9302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14700" y="3745110"/>
            <a:ext cx="1962150" cy="457200"/>
          </a:xfrm>
          <a:prstGeom prst="roundRect">
            <a:avLst>
              <a:gd name="adj" fmla="val 125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014662" y="5173860"/>
            <a:ext cx="1228725" cy="333375"/>
          </a:xfrm>
          <a:prstGeom prst="roundRect">
            <a:avLst>
              <a:gd name="adj" fmla="val 1142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95787" y="5173860"/>
            <a:ext cx="1181100" cy="333375"/>
          </a:xfrm>
          <a:prstGeom prst="roundRect">
            <a:avLst>
              <a:gd name="adj" fmla="val 1142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86000" y="6421635"/>
            <a:ext cx="1276350" cy="228600"/>
          </a:xfrm>
          <a:prstGeom prst="roundRect">
            <a:avLst>
              <a:gd name="adj" fmla="val 16666"/>
            </a:avLst>
          </a:prstGeom>
          <a:solidFill>
            <a:srgbClr val="475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76650" y="6421635"/>
            <a:ext cx="1057275" cy="228600"/>
          </a:xfrm>
          <a:prstGeom prst="roundRect">
            <a:avLst>
              <a:gd name="adj" fmla="val 16666"/>
            </a:avLst>
          </a:prstGeom>
          <a:solidFill>
            <a:srgbClr val="475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48225" y="6421635"/>
            <a:ext cx="1457325" cy="228600"/>
          </a:xfrm>
          <a:prstGeom prst="roundRect">
            <a:avLst>
              <a:gd name="adj" fmla="val 16666"/>
            </a:avLst>
          </a:prstGeom>
          <a:solidFill>
            <a:srgbClr val="475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14662" y="5173860"/>
            <a:ext cx="38100" cy="333375"/>
          </a:xfrm>
          <a:prstGeom prst="rect">
            <a:avLst/>
          </a:prstGeom>
          <a:solidFill>
            <a:srgbClr val="8CA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787" y="5173860"/>
            <a:ext cx="38100" cy="333375"/>
          </a:xfrm>
          <a:prstGeom prst="rect">
            <a:avLst/>
          </a:prstGeom>
          <a:solidFill>
            <a:srgbClr val="8CA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5762" y="2468760"/>
            <a:ext cx="200025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52500" y="762000"/>
            <a:ext cx="3310413" cy="117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b="1" sz="4200" i="0" u="none">
                <a:solidFill>
                  <a:srgbClr val="334155"/>
                </a:solidFill>
                <a:latin typeface="Nunito"/>
              </a:rPr>
              <a:t>Architecture</a:t>
            </a:r>
            <a:r>
              <a:t>
</a:t>
            </a:r>
            <a:r>
              <a:rPr b="1" sz="4200" i="0" u="none">
                <a:solidFill>
                  <a:srgbClr val="334155"/>
                </a:solidFill>
                <a:latin typeface="Nunito"/>
              </a:rPr>
              <a:t> Diagram: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762000"/>
            <a:ext cx="1009650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4800" i="0" u="none">
                <a:solidFill>
                  <a:srgbClr val="0F172A"/>
                </a:solidFill>
                <a:latin typeface="Nunito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9500" y="2735460"/>
            <a:ext cx="1690687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Nunito"/>
              </a:rPr>
              <a:t>Internal User /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28950" y="3421260"/>
            <a:ext cx="316706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Nunito"/>
              </a:rPr>
              <a:t>Virtual Network (workload-subnet)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33700" y="4850010"/>
            <a:ext cx="3405187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5C6C84"/>
                </a:solidFill>
                <a:latin typeface="Nunito"/>
              </a:rPr>
              <a:t>Storage Account (securestorage2026)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2931" y="6135885"/>
            <a:ext cx="7405687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Nunito"/>
              </a:rPr>
              <a:t>Data Protection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9500" y="3859410"/>
            <a:ext cx="16906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Nunito"/>
              </a:rPr>
              <a:t>Private Endpoint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02656" y="6459735"/>
            <a:ext cx="144303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CBD5E1"/>
                </a:solidFill>
                <a:latin typeface="Nunito"/>
              </a:rPr>
              <a:t>Public Access Denied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09975" y="6459735"/>
            <a:ext cx="11906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CBD5E1"/>
                </a:solidFill>
                <a:latin typeface="Nunito"/>
              </a:rPr>
              <a:t>Private DNS Zone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42259" y="6459735"/>
            <a:ext cx="166925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CBD5E1"/>
                </a:solidFill>
                <a:latin typeface="Nunito"/>
              </a:rPr>
              <a:t>Trusted Services Allowed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5162" y="5250060"/>
            <a:ext cx="11715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Nunito"/>
              </a:rPr>
              <a:t>Blob Container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86287" y="5250060"/>
            <a:ext cx="11239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Nunito"/>
              </a:rPr>
              <a:t>travel-data.txt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500" y="762000"/>
            <a:ext cx="4463057" cy="733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4200" i="0" u="none">
                <a:solidFill>
                  <a:srgbClr val="334155"/>
                </a:solidFill>
                <a:latin typeface="Nunito"/>
              </a:rPr>
              <a:t>Components 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762000"/>
            <a:ext cx="1009650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4800" i="0" u="none">
                <a:solidFill>
                  <a:srgbClr val="0F172A"/>
                </a:solidFill>
                <a:latin typeface="Nunito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7275" y="2055495"/>
            <a:ext cx="1238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A5568"/>
                </a:solidFill>
                <a:latin typeface="Nunito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1100" y="2057400"/>
            <a:ext cx="8072437" cy="319980"/>
          </a:xfrm>
          <a:prstGeom prst="rect">
            <a:avLst/>
          </a:prstGeom>
          <a:noFill/>
        </p:spPr>
        <p:txBody>
          <a:bodyPr wrap="none" lIns="1238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4A5568"/>
                </a:solidFill>
                <a:latin typeface="Nunito"/>
              </a:rPr>
              <a:t>Resource Group</a:t>
            </a:r>
            <a:r>
              <a:rPr b="0" sz="1800" i="0" u="none">
                <a:solidFill>
                  <a:srgbClr val="4A5568"/>
                </a:solidFill>
                <a:latin typeface="Nunito"/>
              </a:rPr>
              <a:t> - organizes and manages all Azure resources.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7275" y="2527875"/>
            <a:ext cx="1238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A5568"/>
                </a:solidFill>
                <a:latin typeface="Nunito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100" y="2529780"/>
            <a:ext cx="6553200" cy="639960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4A5568"/>
                </a:solidFill>
                <a:latin typeface="Nunito"/>
              </a:rPr>
              <a:t>Virtual Network (VNet)</a:t>
            </a:r>
            <a:r>
              <a:rPr b="0" sz="1800" i="0" u="none">
                <a:solidFill>
                  <a:srgbClr val="4A5568"/>
                </a:solidFill>
                <a:latin typeface="Nunito"/>
              </a:rPr>
              <a:t> - provides the isolated cloud environment.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7275" y="3320236"/>
            <a:ext cx="1238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A5568"/>
                </a:solidFill>
                <a:latin typeface="Nunit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1100" y="3322141"/>
            <a:ext cx="8072437" cy="319980"/>
          </a:xfrm>
          <a:prstGeom prst="rect">
            <a:avLst/>
          </a:prstGeom>
          <a:noFill/>
        </p:spPr>
        <p:txBody>
          <a:bodyPr wrap="none" lIns="1238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4A5568"/>
                </a:solidFill>
                <a:latin typeface="Nunito"/>
              </a:rPr>
              <a:t>Subnet</a:t>
            </a:r>
            <a:r>
              <a:rPr b="0" sz="1800" i="0" u="none">
                <a:solidFill>
                  <a:srgbClr val="4A5568"/>
                </a:solidFill>
                <a:latin typeface="Nunito"/>
              </a:rPr>
              <a:t> - partitions the network for specific workloads.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7275" y="3792616"/>
            <a:ext cx="1238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A5568"/>
                </a:solidFill>
                <a:latin typeface="Nunit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1100" y="3794521"/>
            <a:ext cx="6553200" cy="639960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4A5568"/>
                </a:solidFill>
                <a:latin typeface="Nunito"/>
              </a:rPr>
              <a:t>Storage Account</a:t>
            </a:r>
            <a:r>
              <a:rPr b="0" sz="1800" i="0" u="none">
                <a:solidFill>
                  <a:srgbClr val="4A5568"/>
                </a:solidFill>
                <a:latin typeface="Nunito"/>
              </a:rPr>
              <a:t> - serves as the primary data storage destination.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275" y="4584977"/>
            <a:ext cx="1238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A5568"/>
                </a:solidFill>
                <a:latin typeface="Nunito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1100" y="4586882"/>
            <a:ext cx="8072437" cy="319980"/>
          </a:xfrm>
          <a:prstGeom prst="rect">
            <a:avLst/>
          </a:prstGeom>
          <a:noFill/>
        </p:spPr>
        <p:txBody>
          <a:bodyPr wrap="none" lIns="1238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4A5568"/>
                </a:solidFill>
                <a:latin typeface="Nunito"/>
              </a:rPr>
              <a:t>Private Endpoint</a:t>
            </a:r>
            <a:r>
              <a:rPr b="0" sz="1800" i="0" u="none">
                <a:solidFill>
                  <a:srgbClr val="4A5568"/>
                </a:solidFill>
                <a:latin typeface="Nunito"/>
              </a:rPr>
              <a:t> - maps an internal IP to the storage resource.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7275" y="5057358"/>
            <a:ext cx="1238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A5568"/>
                </a:solidFill>
                <a:latin typeface="Nunito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1100" y="5059263"/>
            <a:ext cx="8072437" cy="319980"/>
          </a:xfrm>
          <a:prstGeom prst="rect">
            <a:avLst/>
          </a:prstGeom>
          <a:noFill/>
        </p:spPr>
        <p:txBody>
          <a:bodyPr wrap="none" lIns="1238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4A5568"/>
                </a:solidFill>
                <a:latin typeface="Nunito"/>
              </a:rPr>
              <a:t>Private DNS Zone</a:t>
            </a:r>
            <a:r>
              <a:rPr b="0" sz="1800" i="0" u="none">
                <a:solidFill>
                  <a:srgbClr val="4A5568"/>
                </a:solidFill>
                <a:latin typeface="Nunito"/>
              </a:rPr>
              <a:t> - resolves the storage URL internally.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7275" y="5529738"/>
            <a:ext cx="1238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A5568"/>
                </a:solidFill>
                <a:latin typeface="Nunito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1100" y="5531643"/>
            <a:ext cx="6553200" cy="639960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4A5568"/>
                </a:solidFill>
                <a:latin typeface="Nunito"/>
              </a:rPr>
              <a:t>Firewall Rules</a:t>
            </a:r>
            <a:r>
              <a:rPr b="0" sz="1800" i="0" u="none">
                <a:solidFill>
                  <a:srgbClr val="4A5568"/>
                </a:solidFill>
                <a:latin typeface="Nunito"/>
              </a:rPr>
              <a:t> - enforces strict Zero Trust denial of public access.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286250" y="2544960"/>
            <a:ext cx="19050" cy="2703016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762000"/>
            <a:ext cx="2300287" cy="117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b="1" sz="4200" i="0" u="none">
                <a:solidFill>
                  <a:srgbClr val="334155"/>
                </a:solidFill>
                <a:latin typeface="Nunito"/>
              </a:rPr>
              <a:t>Inputs &amp;</a:t>
            </a:r>
            <a:r>
              <a:t>
</a:t>
            </a:r>
            <a:r>
              <a:rPr b="1" sz="4200" i="0" u="none">
                <a:solidFill>
                  <a:srgbClr val="334155"/>
                </a:solidFill>
                <a:latin typeface="Nunito"/>
              </a:rPr>
              <a:t>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762000"/>
            <a:ext cx="1009650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4800" i="0" u="none">
                <a:solidFill>
                  <a:srgbClr val="0F172A"/>
                </a:solidFill>
                <a:latin typeface="Nunito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2544960"/>
            <a:ext cx="3775471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Nunito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0" y="2544960"/>
            <a:ext cx="3775471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Nunito"/>
              </a:rPr>
              <a:t>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3182183"/>
            <a:ext cx="11430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A5568"/>
                </a:solidFill>
                <a:latin typeface="Nunito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" y="3183135"/>
            <a:ext cx="2819400" cy="586680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4A5568"/>
                </a:solidFill>
                <a:latin typeface="Nunito"/>
              </a:rPr>
              <a:t>Standard Azure Storage Account created.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3921263"/>
            <a:ext cx="11430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A5568"/>
                </a:solidFill>
                <a:latin typeface="Nunito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900" y="3922216"/>
            <a:ext cx="2819400" cy="586680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4A5568"/>
                </a:solidFill>
                <a:latin typeface="Nunito"/>
              </a:rPr>
              <a:t>Public network access enabled by default.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4660344"/>
            <a:ext cx="11430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A5568"/>
                </a:solidFill>
                <a:latin typeface="Nunito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" y="4661296"/>
            <a:ext cx="2819400" cy="586680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4A5568"/>
                </a:solidFill>
                <a:latin typeface="Nunito"/>
              </a:rPr>
              <a:t>Virtual Network and subnet established.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182183"/>
            <a:ext cx="11430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A5568"/>
                </a:solidFill>
                <a:latin typeface="Nunito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4900" y="3183135"/>
            <a:ext cx="2819400" cy="586680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4A5568"/>
                </a:solidFill>
                <a:latin typeface="Nunito"/>
              </a:rPr>
              <a:t>Public access fully blocked (403 error).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921263"/>
            <a:ext cx="11430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A5568"/>
                </a:solidFill>
                <a:latin typeface="Nunito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4900" y="3922216"/>
            <a:ext cx="2819400" cy="586680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4A5568"/>
                </a:solidFill>
                <a:latin typeface="Nunito"/>
              </a:rPr>
              <a:t>Data accessible strictly via internal VNet IP.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4660344"/>
            <a:ext cx="11430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A5568"/>
                </a:solidFill>
                <a:latin typeface="Nunito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4900" y="4661296"/>
            <a:ext cx="2819400" cy="586680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4A5568"/>
                </a:solidFill>
                <a:latin typeface="Nunito"/>
              </a:rPr>
              <a:t>Platform logging maintained via exceptions.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500" y="762000"/>
            <a:ext cx="4088010" cy="733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4200" i="0" u="none">
                <a:solidFill>
                  <a:srgbClr val="334155"/>
                </a:solidFill>
                <a:latin typeface="Nunito"/>
              </a:rPr>
              <a:t>Explanation: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762000"/>
            <a:ext cx="1009650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4800" i="0" u="none">
                <a:solidFill>
                  <a:srgbClr val="0F172A"/>
                </a:solidFill>
                <a:latin typeface="Nunito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7275" y="2055495"/>
            <a:ext cx="1238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A5568"/>
                </a:solidFill>
                <a:latin typeface="Nunito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1100" y="2057400"/>
            <a:ext cx="8715375" cy="319980"/>
          </a:xfrm>
          <a:prstGeom prst="rect">
            <a:avLst/>
          </a:prstGeom>
          <a:noFill/>
        </p:spPr>
        <p:txBody>
          <a:bodyPr wrap="none" lIns="1238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A5568"/>
                </a:solidFill>
                <a:latin typeface="Nunito"/>
              </a:rPr>
              <a:t>We used Microsoft Azure to implement cloud network security.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7275" y="2527875"/>
            <a:ext cx="1238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A5568"/>
                </a:solidFill>
                <a:latin typeface="Nunito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100" y="2529780"/>
            <a:ext cx="8715375" cy="319980"/>
          </a:xfrm>
          <a:prstGeom prst="rect">
            <a:avLst/>
          </a:prstGeom>
          <a:noFill/>
        </p:spPr>
        <p:txBody>
          <a:bodyPr wrap="none" lIns="1238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A5568"/>
                </a:solidFill>
                <a:latin typeface="Nunito"/>
              </a:rPr>
              <a:t>First, we created a Resource Group and Virtual Network.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7275" y="3000255"/>
            <a:ext cx="1238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A5568"/>
                </a:solidFill>
                <a:latin typeface="Nunit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1100" y="3002160"/>
            <a:ext cx="8715375" cy="319980"/>
          </a:xfrm>
          <a:prstGeom prst="rect">
            <a:avLst/>
          </a:prstGeom>
          <a:noFill/>
        </p:spPr>
        <p:txBody>
          <a:bodyPr wrap="none" lIns="1238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A5568"/>
                </a:solidFill>
                <a:latin typeface="Nunito"/>
              </a:rPr>
              <a:t>Then, we deployed a standard Storage Account for Blob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7275" y="3472636"/>
            <a:ext cx="1238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A5568"/>
                </a:solidFill>
                <a:latin typeface="Nunit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1100" y="3474541"/>
            <a:ext cx="7067550" cy="639960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A5568"/>
                </a:solidFill>
                <a:latin typeface="Nunito"/>
              </a:rPr>
              <a:t>We configured a Private Endpoint to connect storage directly to our VNet.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275" y="4264997"/>
            <a:ext cx="1238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A5568"/>
                </a:solidFill>
                <a:latin typeface="Nunito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1100" y="4266902"/>
            <a:ext cx="8715375" cy="319980"/>
          </a:xfrm>
          <a:prstGeom prst="rect">
            <a:avLst/>
          </a:prstGeom>
          <a:noFill/>
        </p:spPr>
        <p:txBody>
          <a:bodyPr wrap="none" lIns="1238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A5568"/>
                </a:solidFill>
                <a:latin typeface="Nunito"/>
              </a:rPr>
              <a:t>We disabled public network access entirely via the storage firewall.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7275" y="4737377"/>
            <a:ext cx="1238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A5568"/>
                </a:solidFill>
                <a:latin typeface="Nunito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1100" y="4739282"/>
            <a:ext cx="7067550" cy="639960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A5568"/>
                </a:solidFill>
                <a:latin typeface="Nunito"/>
              </a:rPr>
              <a:t>We checked that external web access returned a 403 Forbidden error.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7275" y="5529738"/>
            <a:ext cx="1238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A5568"/>
                </a:solidFill>
                <a:latin typeface="Nunito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1100" y="5531643"/>
            <a:ext cx="7067550" cy="639960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A5568"/>
                </a:solidFill>
                <a:latin typeface="Nunito"/>
              </a:rPr>
              <a:t>Finally, we verified that Trusted Microsoft Services still operated normally.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500" y="762000"/>
            <a:ext cx="4940617" cy="117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b="1" sz="4200" i="0" u="none">
                <a:solidFill>
                  <a:srgbClr val="334155"/>
                </a:solidFill>
                <a:latin typeface="Nunito"/>
              </a:rPr>
              <a:t>Resources Created</a:t>
            </a:r>
            <a:r>
              <a:t>
</a:t>
            </a:r>
            <a:r>
              <a:rPr b="1" sz="4200" i="0" u="none">
                <a:solidFill>
                  <a:srgbClr val="334155"/>
                </a:solidFill>
                <a:latin typeface="Nunito"/>
              </a:rPr>
              <a:t> &amp; Deleted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762000"/>
            <a:ext cx="1009650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4800" i="0" u="none">
                <a:solidFill>
                  <a:srgbClr val="0F172A"/>
                </a:solidFill>
                <a:latin typeface="Nunito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2392560"/>
            <a:ext cx="8776096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5C6C84"/>
                </a:solidFill>
                <a:latin typeface="Nunito"/>
              </a:rPr>
              <a:t>Created: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5025032"/>
            <a:ext cx="8776096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5C6C84"/>
                </a:solidFill>
                <a:latin typeface="Nunito"/>
              </a:rPr>
              <a:t>Deleted: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7275" y="2905005"/>
            <a:ext cx="1238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A5568"/>
                </a:solidFill>
                <a:latin typeface="Nunito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100" y="2906910"/>
            <a:ext cx="8072437" cy="319980"/>
          </a:xfrm>
          <a:prstGeom prst="rect">
            <a:avLst/>
          </a:prstGeom>
          <a:noFill/>
        </p:spPr>
        <p:txBody>
          <a:bodyPr wrap="none" lIns="1238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A5568"/>
                </a:solidFill>
                <a:latin typeface="Nunito"/>
              </a:rPr>
              <a:t>Resource 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7275" y="3377386"/>
            <a:ext cx="1238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A5568"/>
                </a:solidFill>
                <a:latin typeface="Nunit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1100" y="3379291"/>
            <a:ext cx="8072437" cy="319980"/>
          </a:xfrm>
          <a:prstGeom prst="rect">
            <a:avLst/>
          </a:prstGeom>
          <a:noFill/>
        </p:spPr>
        <p:txBody>
          <a:bodyPr wrap="none" lIns="1238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A5568"/>
                </a:solidFill>
                <a:latin typeface="Nunito"/>
              </a:rPr>
              <a:t>Virtual Network &amp; Subnets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7275" y="3849766"/>
            <a:ext cx="1238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A5568"/>
                </a:solidFill>
                <a:latin typeface="Nunit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1100" y="3851671"/>
            <a:ext cx="8072437" cy="319980"/>
          </a:xfrm>
          <a:prstGeom prst="rect">
            <a:avLst/>
          </a:prstGeom>
          <a:noFill/>
        </p:spPr>
        <p:txBody>
          <a:bodyPr wrap="none" lIns="1238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A5568"/>
                </a:solidFill>
                <a:latin typeface="Nunito"/>
              </a:rPr>
              <a:t>Storage Account &amp; Blob Container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275" y="4322147"/>
            <a:ext cx="1238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A5568"/>
                </a:solidFill>
                <a:latin typeface="Nunito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1100" y="4324052"/>
            <a:ext cx="8072437" cy="319980"/>
          </a:xfrm>
          <a:prstGeom prst="rect">
            <a:avLst/>
          </a:prstGeom>
          <a:noFill/>
        </p:spPr>
        <p:txBody>
          <a:bodyPr wrap="none" lIns="1238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A5568"/>
                </a:solidFill>
                <a:latin typeface="Nunito"/>
              </a:rPr>
              <a:t>Private Endpoint &amp; DNS Zone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7275" y="5537477"/>
            <a:ext cx="1238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A5568"/>
                </a:solidFill>
                <a:latin typeface="Nunito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1100" y="5539382"/>
            <a:ext cx="8072437" cy="319980"/>
          </a:xfrm>
          <a:prstGeom prst="rect">
            <a:avLst/>
          </a:prstGeom>
          <a:noFill/>
        </p:spPr>
        <p:txBody>
          <a:bodyPr wrap="none" lIns="1238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A5568"/>
                </a:solidFill>
                <a:latin typeface="Nunito"/>
              </a:rPr>
              <a:t>All project resources after successful 403 testing.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7275" y="6009858"/>
            <a:ext cx="1238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A5568"/>
                </a:solidFill>
                <a:latin typeface="Nunito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1100" y="6011763"/>
            <a:ext cx="6553200" cy="639960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A5568"/>
                </a:solidFill>
                <a:latin typeface="Nunito"/>
              </a:rPr>
              <a:t>Done to ensure clean environment and avoid unnecessary Azure charges.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0037" y="2909887"/>
            <a:ext cx="5213151" cy="1038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6000" i="0" u="none">
                <a:solidFill>
                  <a:srgbClr val="334155"/>
                </a:solidFill>
                <a:latin typeface="Nunit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